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E827E"/>
                </a:solidFill>
                <a:latin typeface="微软雅黑"/>
              </a:defRPr>
            </a:pPr>
            <a:r>
              <a:rPr sz="1300" b="0" i="0" u="none" strike="noStrike">
                <a:solidFill>
                  <a:srgbClr val="6E827E"/>
                </a:solidFill>
                <a:latin typeface="微软雅黑"/>
              </a:rPr>
              <a:t>端到端吞吐（MB/s，512MB 场景实测）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吞吐</c:v>
                </c:pt>
              </c:strCache>
            </c:strRef>
          </c:tx>
          <c:spPr>
            <a:solidFill>
              <a:srgbClr val="0E6B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2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6B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B5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6B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备份（无压缩）</c:v>
                  </c:pt>
                  <c:pt idx="1">
                    <c:v>备份（Huffman）</c:v>
                  </c:pt>
                  <c:pt idx="2">
                    <c:v>还原（Huffman）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167</c:v>
                </c:pt>
                <c:pt idx="1">
                  <c:v>97</c:v>
                </c:pt>
                <c:pt idx="2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2A2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827E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>
              <a:solidFill>
                <a:srgbClr val="E2EC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827E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E827E"/>
                </a:solidFill>
                <a:latin typeface="微软雅黑"/>
              </a:defRPr>
            </a:pPr>
            <a:r>
              <a:rPr sz="1300" b="0" i="0" u="none" strike="noStrike">
                <a:solidFill>
                  <a:srgbClr val="6E827E"/>
                </a:solidFill>
                <a:latin typeface="微软雅黑"/>
              </a:rPr>
              <a:t>核心包语句覆盖率（%，实测 2026-10-17）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覆盖率</c:v>
                </c:pt>
              </c:strCache>
            </c:strRef>
          </c:tx>
          <c:spPr>
            <a:solidFill>
              <a:srgbClr val="0E6B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A2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crypto</c:v>
                  </c:pt>
                  <c:pt idx="1">
                    <c:v>pack</c:v>
                  </c:pt>
                  <c:pt idx="2">
                    <c:v>huffman</c:v>
                  </c:pt>
                  <c:pt idx="3">
                    <c:v>filter</c:v>
                  </c:pt>
                  <c:pt idx="4">
                    <c:v>walk</c:v>
                  </c:pt>
                  <c:pt idx="5">
                    <c:v>container</c:v>
                  </c:pt>
                  <c:pt idx="6">
                    <c:v>repo</c:v>
                  </c:pt>
                  <c:pt idx="7">
                    <c:v>engine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97.1</c:v>
                </c:pt>
                <c:pt idx="1">
                  <c:v>95.3</c:v>
                </c:pt>
                <c:pt idx="2">
                  <c:v>94.4</c:v>
                </c:pt>
                <c:pt idx="3">
                  <c:v>99</c:v>
                </c:pt>
                <c:pt idx="4">
                  <c:v>93.2</c:v>
                </c:pt>
                <c:pt idx="5">
                  <c:v>92.2</c:v>
                </c:pt>
                <c:pt idx="6">
                  <c:v>87.3</c:v>
                </c:pt>
                <c:pt idx="7">
                  <c:v>87.2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2A2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827E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2EC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827E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6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920240"/>
            <a:ext cx="11274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8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目录树备份与还原软件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51206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DB4A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组长：王科瑾（单人组 · AI 辅助开发）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DB4A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电子科技大学《软件开发综合实验》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项目定位与功能总览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一句话：把任意 Linux 目录树备份为单个备份文件，并原样还原（数据 + 全部文件类型 + 元数据）</a:t>
            </a:r>
            <a:endParaRPr lang="en-US" sz="1400" dirty="0"/>
          </a:p>
        </p:txBody>
      </p:sp>
      <p:pic>
        <p:nvPicPr>
          <p:cNvPr id="4" name="Image 0" descr="/workspace/docs/deliverables/diagrams/function-stru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749808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737360"/>
            <a:ext cx="3291840" cy="393192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0" y="196596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40 分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数据备份 / 数据还原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扩展项全做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种文件类型 · 元数据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六维过滤 · MyPack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 · AES-256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图形界面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需求与用例：全程编号可追踪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18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FR-01 ~ FR-18 全部实现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UC-01 ~ 07 覆盖备份、还原、管理、设置、取消、口令、进度七个用例；每个 FR 至少 1 个自动化用例（FR ↔ TC 追踪表）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12064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FR-01/02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4944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备份与还原（基础）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120640" y="2121408"/>
            <a:ext cx="6583680" cy="0"/>
          </a:xfrm>
          <a:prstGeom prst="line">
            <a:avLst/>
          </a:prstGeom>
          <a:noFill/>
          <a:ln w="9525">
            <a:solidFill>
              <a:srgbClr val="D7E4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2304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FR-03/04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949440" y="23042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种文件类型 + 纳秒元数据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120640" y="2871216"/>
            <a:ext cx="6583680" cy="0"/>
          </a:xfrm>
          <a:prstGeom prst="line">
            <a:avLst/>
          </a:prstGeom>
          <a:noFill/>
          <a:ln w="9525">
            <a:solidFill>
              <a:srgbClr val="D7E4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3054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FR-05~10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30540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路径/类型/名字/时间/尺寸/用户组过滤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120640" y="3621024"/>
            <a:ext cx="6583680" cy="0"/>
          </a:xfrm>
          <a:prstGeom prst="line">
            <a:avLst/>
          </a:prstGeom>
          <a:noFill/>
          <a:ln w="9525">
            <a:solidFill>
              <a:srgbClr val="D7E4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38039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FR-11~13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49440" y="38039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MyPack / Huffman / AES-256（全自研）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120640" y="4370832"/>
            <a:ext cx="6583680" cy="0"/>
          </a:xfrm>
          <a:prstGeom prst="line">
            <a:avLst/>
          </a:prstGeom>
          <a:noFill/>
          <a:ln w="9525">
            <a:solidFill>
              <a:srgbClr val="D7E4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4553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FR-14~15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45537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仓库管理与设置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120640" y="5120640"/>
            <a:ext cx="6583680" cy="0"/>
          </a:xfrm>
          <a:prstGeom prst="line">
            <a:avLst/>
          </a:prstGeom>
          <a:noFill/>
          <a:ln w="9525">
            <a:solidFill>
              <a:srgbClr val="D7E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5303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FR-16~18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49440" y="5303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图形界面 / 安全健壮 / 进度日志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 编译型后端 + Electron 客户端，JSON Lines 协议为唯一接口（冻结契约 + 双端类型一致性测试）</a:t>
            </a:r>
            <a:endParaRPr lang="en-US" sz="1400" dirty="0"/>
          </a:p>
        </p:txBody>
      </p:sp>
      <p:pic>
        <p:nvPicPr>
          <p:cNvPr id="4" name="Image 0" descr="/workspace/docs/deliverables/diagrams/component-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86384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0" y="1737360"/>
            <a:ext cx="457200" cy="457200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28116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零依赖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281160" y="2057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后端生产代码零第三方库，扩展功能全部自研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0" y="3108960"/>
            <a:ext cx="457200" cy="457200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28116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契约冻结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28116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CLI/JSONL 协议文档化，Go/TS 类型测试比对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86800" y="4480560"/>
            <a:ext cx="457200" cy="457200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28116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进程隔离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281160" y="48006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 spawn 子进程，逻辑全在后端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数据流水线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scan（遍历+过滤）→ pack（MyPack → Huffman → AES+HMAC）→ .partial → 硬链接原子发布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DF5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 遍历+过滤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51460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34640" y="1828800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DF5F2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182880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MyPack 归档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80060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120640" y="1828800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DF5F2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82880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 压缩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08660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406640" y="1828800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EDF5F2"/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182880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AES-256+HMAC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37260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692640" y="1828800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6B5C"/>
          </a:solidFill>
          <a:ln/>
        </p:spPr>
      </p:sp>
      <p:sp>
        <p:nvSpPr>
          <p:cNvPr id="17" name="Text 15"/>
          <p:cNvSpPr/>
          <p:nvPr/>
        </p:nvSpPr>
        <p:spPr>
          <a:xfrm>
            <a:off x="9692640" y="182880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原子发布 .dbk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3566160" cy="23774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先校验后落盘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37947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还原先整文件校验（MAC/SHA），通过前不写任何文件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434840" y="2926080"/>
            <a:ext cx="3566160" cy="23774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3200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原子发布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709160" y="37947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硬链接发布为 .dbk，遇同名 E_EXISTS；失败/取消删 .partial 无残留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21040" y="2926080"/>
            <a:ext cx="3566160" cy="23774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25" name="Text 23"/>
          <p:cNvSpPr/>
          <p:nvPr/>
        </p:nvSpPr>
        <p:spPr>
          <a:xfrm>
            <a:off x="8595360" y="3200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进度节流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595360" y="37947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JSON Lines 实时输出，每阶段 ≤10 次/秒且阶段结束必发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完整顺序图（备份/还原加密/dry-run/列表删除）见系统设计文档 §4.1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关键技术一：自研 MyPack 归档格式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33856" cy="777240"/>
          </a:xfrm>
          <a:prstGeom prst="rect">
            <a:avLst/>
          </a:prstGeom>
          <a:solidFill>
            <a:srgbClr val="0E6B5C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头记录 512B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755648" y="1737360"/>
            <a:ext cx="1133856" cy="7772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6" name="Text 4"/>
          <p:cNvSpPr/>
          <p:nvPr/>
        </p:nvSpPr>
        <p:spPr>
          <a:xfrm>
            <a:off x="1755648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文件数据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62656" y="1737360"/>
            <a:ext cx="1133856" cy="7772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8" name="Text 6"/>
          <p:cNvSpPr/>
          <p:nvPr/>
        </p:nvSpPr>
        <p:spPr>
          <a:xfrm>
            <a:off x="2962656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头记录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69664" y="1737360"/>
            <a:ext cx="1133856" cy="7772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10" name="Text 8"/>
          <p:cNvSpPr/>
          <p:nvPr/>
        </p:nvSpPr>
        <p:spPr>
          <a:xfrm>
            <a:off x="4169664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76672" y="1737360"/>
            <a:ext cx="1133856" cy="77724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12" name="Text 10"/>
          <p:cNvSpPr/>
          <p:nvPr/>
        </p:nvSpPr>
        <p:spPr>
          <a:xfrm>
            <a:off x="5376672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长路径扩展块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0" y="1737360"/>
            <a:ext cx="1133856" cy="777240"/>
          </a:xfrm>
          <a:prstGeom prst="rect">
            <a:avLst/>
          </a:prstGeom>
          <a:solidFill>
            <a:srgbClr val="0F262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零块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90688" y="1737360"/>
            <a:ext cx="1133856" cy="777240"/>
          </a:xfrm>
          <a:prstGeom prst="rect">
            <a:avLst/>
          </a:prstGeom>
          <a:solidFill>
            <a:srgbClr val="0F2621"/>
          </a:solidFill>
          <a:ln/>
        </p:spPr>
      </p:sp>
      <p:sp>
        <p:nvSpPr>
          <p:cNvPr id="16" name="Text 14"/>
          <p:cNvSpPr/>
          <p:nvPr/>
        </p:nvSpPr>
        <p:spPr>
          <a:xfrm>
            <a:off x="7790688" y="1737360"/>
            <a:ext cx="1133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零块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小端二进制 · CRC-32 校验 · 纳秒时间 · 全部 7 种文件类型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安全：Reader 拒绝绝对路径、.. 段、已出现软链接之下的路径、越界硬链接目标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长文件名溢出到扩展块，头记录定长 512B（仿 tar）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黄金文件往返逐字节一致；篡改任何字段检出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488 万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8595360" y="4206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FuzzReader 30s 执行次数，零 panic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关键技术二：自研 Huffman 压缩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1MiB 分块流式规范编码，码长表入块头，内存恒定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0.616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512MB 文本实测压缩率（330.8MB）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规范码表可自校验，解码对非法输入返回错误</a:t>
            </a:r>
            <a:endParaRPr lang="en-US" sz="14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随机数据不膨胀（0.999+），跨块流式处理</a:t>
            </a:r>
            <a:endParaRPr lang="en-US" sz="14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10,000 个小文件备份 0.16s、还原 0.36s</a:t>
            </a:r>
            <a:endParaRPr lang="en-US" sz="14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120640" y="17373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关键技术三：手写加密栈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 → PBKDF2（10 万轮，214ms）→ AES-256-CBC + PKCS#7 → encrypt-then-MAC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EDF5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SHA-256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14600" y="182880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34640" y="18288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EDF5F2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HMAC-SHA256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00600" y="182880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120640" y="18288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EDF5F2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PBKDF2 ×100k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182880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406640" y="18288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0E6B5C"/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AES-256-CBC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72600" y="182880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692640" y="18288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ED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96926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HMAC 校验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8412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全部手写，仅测试中允许标准库对照组（课程自研要求）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公开向量锚点：FIPS-197、NIST SHA-256、RFC 2104/7914 全过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容器先整文件校验再返回明文流：篡改任一字节 / 截断 / 错误口令必被检出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口令只经 stdin 传递，不进参数表 / 环境变量 / 日志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3017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E_AUTH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35440" y="37033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错误口令退出码 3，客户端 3 次重试后回退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图形客户端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三页面真实截图（Playwright 界面回归基线即所见即所得）</a:t>
            </a:r>
            <a:endParaRPr lang="en-US" sz="1400" dirty="0"/>
          </a:p>
        </p:txBody>
      </p:sp>
      <p:pic>
        <p:nvPicPr>
          <p:cNvPr id="4" name="Image 0" descr="/workspace/client/e2e/app.spec.ts-snapshots/page-backup-linu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45920"/>
            <a:ext cx="3611880" cy="23134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0690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备份：编排 + 六筛选</a:t>
            </a:r>
            <a:endParaRPr lang="en-US" sz="1400" dirty="0"/>
          </a:p>
        </p:txBody>
      </p:sp>
      <p:pic>
        <p:nvPicPr>
          <p:cNvPr id="6" name="Image 1" descr="/workspace/client/e2e/app.spec.ts-snapshots/page-manage-linu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9120" y="1645920"/>
            <a:ext cx="3611880" cy="23134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40690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管理：列表 / 还原 / 删除</a:t>
            </a:r>
            <a:endParaRPr lang="en-US" sz="1400" dirty="0"/>
          </a:p>
        </p:txBody>
      </p:sp>
      <p:pic>
        <p:nvPicPr>
          <p:cNvPr id="8" name="Image 2" descr="/workspace/client/e2e/app.spec.ts-snapshots/page-settings-linu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75320" y="1645920"/>
            <a:ext cx="3611880" cy="23134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75320" y="40690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设置：仓库路径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19 + zustand 状态机（9 态全转移有单测）；进度实时（JSON Lines）；口令经 stdin 注入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端到端：界面完成「过滤+压缩+加密」备份 → 口令还原 → 目录树与源一致（真实后端二进制）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工程化：并行开发与质量门禁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40+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任务按波次/泳道并行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按模型强度分级调度（强/中/轻），两日冲刺完成全部功能冻结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0" y="155448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EDF5F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0" y="1554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AGENTS.md 规则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12280" y="1627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自研约束 / 零依赖 / 无学号，任何 agent 进仓即受约束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120640" y="2468880"/>
            <a:ext cx="0" cy="228600"/>
          </a:xfrm>
          <a:prstGeom prst="line">
            <a:avLst/>
          </a:prstGeom>
          <a:noFill/>
          <a:ln w="19050">
            <a:solidFill>
              <a:srgbClr val="0E6B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69748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EDF5F2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分级调度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2770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roadmap 40+ 任务，依赖分波次、强度分级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120640" y="3611880"/>
            <a:ext cx="0" cy="228600"/>
          </a:xfrm>
          <a:prstGeom prst="line">
            <a:avLst/>
          </a:prstGeom>
          <a:noFill/>
          <a:ln w="19050">
            <a:solidFill>
              <a:srgbClr val="0E6B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384048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EDF5F2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3840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review 循环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12280" y="3913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并行深审 subagent + 门禁复跑 + P0~P3 分级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120640" y="4754880"/>
            <a:ext cx="0" cy="228600"/>
          </a:xfrm>
          <a:prstGeom prst="line">
            <a:avLst/>
          </a:prstGeom>
          <a:noFill/>
          <a:ln w="19050">
            <a:solidFill>
              <a:srgbClr val="0E6B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498348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EDF5F2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4983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自动化门禁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12280" y="5056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make check / check-all + CI 四 job 全绿才可合并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测试证据（一）：规模与覆盖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400+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用例编号内嵌代码，可直接检索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组合过滤×压缩×加密矩阵全过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race 全绿 · 静态检查零告警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核心包覆盖率全部 ≥ 80%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297680" y="1554480"/>
          <a:ext cx="7406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测试证据（二）：健壮性与性能剖析</a:t>
            </a:r>
            <a:endParaRPr lang="en-US" sz="3000" dirty="0"/>
          </a:p>
        </p:txBody>
      </p:sp>
      <p:pic>
        <p:nvPicPr>
          <p:cNvPr id="3" name="Image 0" descr="/workspace/docs/deliverables/diagrams/perf-flame-aes-cb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4592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8978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pprof 火焰图：热点集中于 AES 轮函数与 CBC 链式异或（符合手写实现预期）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63840" y="16459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10,000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86384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小文件备份 0.16s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7249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0.16s / 0.36s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3227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万文件备份 / 还原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86384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SIGTERM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43068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取消退出码 4，无 .partial 残留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48828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488 万次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fuzz 执行零 panic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交付物与运行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make package 一键产出；WSL2 + WSLg 运行说明（实测通过）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DF5F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DataBackup-0.1.0.AppImage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139.8MB · 免安装单文件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libfuse2t64 或 --appimage-extract-and-run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DF5F2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databackup-client_0.1.0_amd64.deb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091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107.6MB · 标准安装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70916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dpkg -i + apt-get -f，内置后端二进制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21040" y="182880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DF5F2"/>
          </a:solidFill>
          <a:ln/>
        </p:spPr>
      </p:sp>
      <p:sp>
        <p:nvSpPr>
          <p:cNvPr id="13" name="Text 11"/>
          <p:cNvSpPr/>
          <p:nvPr/>
        </p:nvSpPr>
        <p:spPr>
          <a:xfrm>
            <a:off x="859536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CLI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953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3.7MB · 独立可执行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59536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脚本化备份/还原，JSON Lines 输出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全部产物内置后端于 resources/bin/databackup；GUI 与 CLI 共用同一二进制，版本一致性由构建保证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6B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分钟演示视频：界面完成过滤+压缩+加密备份 → 错误口令 → 还原成功 → diff 验证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辅助开发实践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规则约束 + 分级调度 + 独立审查 + 自动化门禁，四道闸门缺一不可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554480" y="1783080"/>
            <a:ext cx="658368" cy="658368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规则入口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AGENTS.md：自研约束 / 零第三方依赖 / 不提交学号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08960" y="18288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658368" cy="658368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29000" y="2606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任务拆分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3017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roadmap 波次泳道 + 模型强度分级（强·中·轻）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89320" y="18288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658368" cy="658368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309360" y="2606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实现与审查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0" y="3017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并行实现；review-agent 循环深审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869680" y="18288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195560" y="1783080"/>
            <a:ext cx="658368" cy="658368"/>
          </a:xfrm>
          <a:prstGeom prst="ellipse">
            <a:avLst/>
          </a:prstGeom>
          <a:solidFill>
            <a:srgbClr val="0E6B5C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门禁合入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81160" y="3017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先写测试后实现；check-all + CI 全绿才合并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11064240" cy="1554480"/>
          </a:xfrm>
          <a:prstGeom prst="rect">
            <a:avLst/>
          </a:prstGeom>
          <a:solidFill>
            <a:srgbClr val="EDF5F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52628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两日冲刺（10-16 ~ 10-17）完成 W3 集成 → C3 联调 → C4 打包 → 测试证据，功能冻结较计划提前一天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72A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产出经独立审查发现的典型深层问题：e2e 截图基线随打包流内环境元数据漂移——根因取证与修复全程留档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0916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2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6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2000" dirty="0">
                <a:solidFill>
                  <a:srgbClr val="E8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+ 全部扩展项实现，FR ↔ TC 全程可追踪</a:t>
            </a:r>
            <a:endParaRPr lang="en-US" sz="200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2000" dirty="0">
                <a:solidFill>
                  <a:srgbClr val="E8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自研格式 / 压缩 / 加密：公开向量 + 488 万次 fuzz 背书</a:t>
            </a:r>
            <a:endParaRPr lang="en-US" sz="200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2000" dirty="0">
                <a:solidFill>
                  <a:srgbClr val="E8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从需求到发布的完整工程化闭环（测试 / 打包 / 文档 / CI）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1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谢谢！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5852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演示见视频 / 现场 · 组长：王科瑾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DataBackup 答辩</dc:title>
  <dc:subject>PptxGenJS Presentation</dc:subject>
  <dc:creator>王科瑾</dc:creator>
  <cp:lastModifiedBy>王科瑾</cp:lastModifiedBy>
  <cp:revision>1</cp:revision>
  <dcterms:created xsi:type="dcterms:W3CDTF">2026-10-16T19:28:20Z</dcterms:created>
  <dcterms:modified xsi:type="dcterms:W3CDTF">2026-10-16T19:28:20Z</dcterms:modified>
</cp:coreProperties>
</file>