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4584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78308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A1D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DataBackup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1024128" y="27889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4584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Linux 目录树备份与还原软件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024128" y="3429000"/>
            <a:ext cx="4754880" cy="0"/>
          </a:xfrm>
          <a:prstGeom prst="line">
            <a:avLst/>
          </a:prstGeom>
          <a:noFill/>
          <a:ln w="12700">
            <a:solidFill>
              <a:srgbClr val="E3E6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4128" y="36576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《软件开发综合实验》课程项目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组长：王科瑾（单人组）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电子科技大学 · 2026 年 11 月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24128" y="5257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v1.0.1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97228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D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需求范围：基础功能与全部扩展项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9677095" y="45720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需求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85800" y="1060704"/>
            <a:ext cx="10820095" cy="0"/>
          </a:xfrm>
          <a:prstGeom prst="line">
            <a:avLst/>
          </a:prstGeom>
          <a:noFill/>
          <a:ln w="12700">
            <a:solidFill>
              <a:srgbClr val="E3E6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643737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DataBackup · 软件开发综合实验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85800" y="123444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课程要求分为基础 40 分与扩展项；本项目 18 条功能需求全部实现，未做实时备份与网络备份。</a:t>
            </a:r>
            <a:endParaRPr lang="en-US" sz="12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83080"/>
          <a:ext cx="758952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394960"/>
                <a:gridCol w="8686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需求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内容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计分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FR-01 / 02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把目录树备份为单个文件；还原到指定目录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基础 40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FR-03 / 04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 种文件类型（含硬链接、设备、套接字）；权限、属主、纳秒时间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扩展 20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FR-05 ~ 10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路径、类型、名字、时间、尺寸、用户组六个过滤维度，可组合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扩展 25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FR-11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自研 MyPack 归档格式（512B 头记录，仿 tar）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扩展 10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FR-12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自研 Huffman 压缩（1 MiB 分块流式）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扩展 10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FR-13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自研 AES-256 加密：PBKDF2 派生 + CBC + HMAC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扩展 10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FR-14 / 15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备份列表、详情、删除；仓库路径设置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支撑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FR-16 ~ 18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Electron 客户端；错误口令与路径穿越防护；JSONL 进度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扩展 10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8641080" y="1783080"/>
            <a:ext cx="2834640" cy="3063240"/>
          </a:xfrm>
          <a:prstGeom prst="rect">
            <a:avLst/>
          </a:prstGeom>
          <a:solidFill>
            <a:srgbClr val="F6F7F7"/>
          </a:solidFill>
          <a:ln/>
        </p:spPr>
      </p:sp>
      <p:sp>
        <p:nvSpPr>
          <p:cNvPr id="9" name="Text 6"/>
          <p:cNvSpPr/>
          <p:nvPr/>
        </p:nvSpPr>
        <p:spPr>
          <a:xfrm>
            <a:off x="8869680" y="196596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584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明确不做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869680" y="228600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实时备份、网络备份。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两项都需要常驻服务或服务器，与"单机、单文件、可离线"的课程场景不匹配。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869680" y="34747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584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可选项（已完成）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869680" y="3794760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便携包：同一套后端交叉编译，平台不支持的元数据静默跳过，仅用于课堂演示兜底。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85800" y="507492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计分口径见 docs/project/course-requirements.md；扩展项按课程 85 分上限核算。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0591495" y="643737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97228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D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架构：进程边界清晰，客户端不含业务逻辑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9677095" y="45720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系统设计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85800" y="1060704"/>
            <a:ext cx="10820095" cy="0"/>
          </a:xfrm>
          <a:prstGeom prst="line">
            <a:avLst/>
          </a:prstGeom>
          <a:noFill/>
          <a:ln w="12700">
            <a:solidFill>
              <a:srgbClr val="E3E6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643737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DataBackup · 软件开发综合实验</a:t>
            </a:r>
            <a:endParaRPr lang="en-US" sz="900" dirty="0"/>
          </a:p>
        </p:txBody>
      </p:sp>
      <p:pic>
        <p:nvPicPr>
          <p:cNvPr id="6" name="Image 0" descr="docs/deliverables/diagrams/component-to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092440" y="1234440"/>
            <a:ext cx="3566160" cy="4892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92440" y="616305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图：顶层构件（docs/deliverables/diagrams/component-top.puml）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85800" y="1517904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23544" y="1417320"/>
            <a:ext cx="67116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A1D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编译型后端  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Go 1.27，生产代码零第三方模块；自研约束由 scripts/check-imports.sh 强制。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85800" y="2304288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23544" y="2203704"/>
            <a:ext cx="67116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A1D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唯一接口  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客户端 spawn CLI，stdout 输出 JSON Lines；协议冻结在 cli-contract.md。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85800" y="3090672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23544" y="2990088"/>
            <a:ext cx="67116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A1D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无数据库  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.dbk 头尾记录元信息，list / info 只读文件首尾，不需要口令。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85800" y="3877056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23544" y="3776472"/>
            <a:ext cx="67116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A1D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口令隔离  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口令经 stdin 传入，不进参数、环境变量与日志。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85800" y="4892040"/>
            <a:ext cx="6949440" cy="566928"/>
          </a:xfrm>
          <a:prstGeom prst="rect">
            <a:avLst/>
          </a:prstGeom>
          <a:solidFill>
            <a:srgbClr val="EAF1EE"/>
          </a:solidFill>
          <a:ln/>
        </p:spPr>
      </p:sp>
      <p:sp>
        <p:nvSpPr>
          <p:cNvPr id="17" name="Text 14"/>
          <p:cNvSpPr/>
          <p:nvPr/>
        </p:nvSpPr>
        <p:spPr>
          <a:xfrm>
            <a:off x="868680" y="498348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4584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契约双端一致：Go 类型与 TypeScript 类型由测试比对同一组 JSON 样例，字段漂移会直接失败。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91495" y="643737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97228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D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备份流水线：写临时文件，校验通过后才发布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9677095" y="45720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系统设计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85800" y="1060704"/>
            <a:ext cx="10820095" cy="0"/>
          </a:xfrm>
          <a:prstGeom prst="line">
            <a:avLst/>
          </a:prstGeom>
          <a:noFill/>
          <a:ln w="12700">
            <a:solidFill>
              <a:srgbClr val="E3E6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643737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DataBackup · 软件开发综合实验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85800" y="1508760"/>
            <a:ext cx="1938528" cy="868680"/>
          </a:xfrm>
          <a:prstGeom prst="rect">
            <a:avLst/>
          </a:prstGeom>
          <a:solidFill>
            <a:srgbClr val="F6F7F7"/>
          </a:solidFill>
          <a:ln w="12700">
            <a:solidFill>
              <a:srgbClr val="E3E6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15727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32104" y="184708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遍历目录树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套用过滤规则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624328" y="1938528"/>
            <a:ext cx="274320" cy="0"/>
          </a:xfrm>
          <a:prstGeom prst="line">
            <a:avLst/>
          </a:prstGeom>
          <a:noFill/>
          <a:ln w="12700">
            <a:solidFill>
              <a:srgbClr val="9CA3A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98648" y="1508760"/>
            <a:ext cx="1938528" cy="868680"/>
          </a:xfrm>
          <a:prstGeom prst="rect">
            <a:avLst/>
          </a:prstGeom>
          <a:solidFill>
            <a:srgbClr val="F6F7F7"/>
          </a:solidFill>
          <a:ln w="12700">
            <a:solidFill>
              <a:srgbClr val="E3E6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44952" y="15727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pack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044952" y="184708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MyPack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逐条写头与数据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837176" y="1938528"/>
            <a:ext cx="274320" cy="0"/>
          </a:xfrm>
          <a:prstGeom prst="line">
            <a:avLst/>
          </a:prstGeom>
          <a:noFill/>
          <a:ln w="12700">
            <a:solidFill>
              <a:srgbClr val="9CA3A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111496" y="1508760"/>
            <a:ext cx="1938528" cy="868680"/>
          </a:xfrm>
          <a:prstGeom prst="rect">
            <a:avLst/>
          </a:prstGeom>
          <a:solidFill>
            <a:srgbClr val="F6F7F7"/>
          </a:solidFill>
          <a:ln w="12700">
            <a:solidFill>
              <a:srgbClr val="E3E6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57800" y="15727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compress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257800" y="184708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Huffman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MiB 分块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050024" y="1938528"/>
            <a:ext cx="274320" cy="0"/>
          </a:xfrm>
          <a:prstGeom prst="line">
            <a:avLst/>
          </a:prstGeom>
          <a:noFill/>
          <a:ln w="12700">
            <a:solidFill>
              <a:srgbClr val="9CA3A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24344" y="1508760"/>
            <a:ext cx="1938528" cy="868680"/>
          </a:xfrm>
          <a:prstGeom prst="rect">
            <a:avLst/>
          </a:prstGeom>
          <a:solidFill>
            <a:srgbClr val="F6F7F7"/>
          </a:solidFill>
          <a:ln w="12700">
            <a:solidFill>
              <a:srgbClr val="E3E6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70648" y="15727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encrypt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470648" y="184708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AES-256-CBC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HMAC 尾部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9262872" y="1938528"/>
            <a:ext cx="274320" cy="0"/>
          </a:xfrm>
          <a:prstGeom prst="line">
            <a:avLst/>
          </a:prstGeom>
          <a:noFill/>
          <a:ln w="12700">
            <a:solidFill>
              <a:srgbClr val="9CA3A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537192" y="1508760"/>
            <a:ext cx="1938528" cy="868680"/>
          </a:xfrm>
          <a:prstGeom prst="rect">
            <a:avLst/>
          </a:prstGeom>
          <a:solidFill>
            <a:srgbClr val="14584B"/>
          </a:solidFill>
          <a:ln w="12700">
            <a:solidFill>
              <a:srgbClr val="1458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83496" y="15727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publish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683496" y="184708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EAF1E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fsync + link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EAF1E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.partial → .dbk</a:t>
            </a:r>
            <a:endParaRPr lang="en-US" sz="9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971800"/>
          <a:ext cx="1082009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6583680"/>
                <a:gridCol w="466344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环节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关键做法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失败时的行为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scan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lstat 遍历、稳定排序、硬链接按 inode 去重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不可读项跳过并计数，不中断任务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pack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头记录定长 512 B，长路径溢出到扩展块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路径不合规返回 ErrUnsafePath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compress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每块独立码表，内存与输入大小无关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随机数据不膨胀，最差 1.0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encrypt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encrypt-then-MAC，尾部记录统计与校验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篡改或口令错误返回认证失败（退出码 3）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publish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先写 .dbk.partial，fsync 后硬链接发布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同名已存在返回 E_EXISTS；取消删除半成品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685800" y="57150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还原方向相反：先对整文件做 MAC/SHA 校验，通过后才开始写目标目录，避免"还原到一半发现备份已损坏"。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10591495" y="643737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97228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D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MyPack：512 字节定长头记录 + 全类型支持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9677095" y="45720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自研格式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85800" y="1060704"/>
            <a:ext cx="10820095" cy="0"/>
          </a:xfrm>
          <a:prstGeom prst="line">
            <a:avLst/>
          </a:prstGeom>
          <a:noFill/>
          <a:ln w="12700">
            <a:solidFill>
              <a:srgbClr val="E3E6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643737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DataBackup · 软件开发综合实验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85800" y="1417320"/>
            <a:ext cx="1371600" cy="566928"/>
          </a:xfrm>
          <a:prstGeom prst="rect">
            <a:avLst/>
          </a:prstGeom>
          <a:solidFill>
            <a:srgbClr val="14584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417320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魔数/版本/类型/标志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057400" y="1417320"/>
            <a:ext cx="1005840" cy="566928"/>
          </a:xfrm>
          <a:prstGeom prst="rect">
            <a:avLst/>
          </a:prstGeom>
          <a:solidFill>
            <a:srgbClr val="14584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03120" y="1417320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CRC-32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063240" y="1417320"/>
            <a:ext cx="3017520" cy="566928"/>
          </a:xfrm>
          <a:prstGeom prst="rect">
            <a:avLst/>
          </a:prstGeom>
          <a:solidFill>
            <a:srgbClr val="14584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08960" y="141732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长度与元数据字段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080760" y="1417320"/>
            <a:ext cx="2468880" cy="566928"/>
          </a:xfrm>
          <a:prstGeom prst="rect">
            <a:avLst/>
          </a:prstGeom>
          <a:solidFill>
            <a:srgbClr val="14584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0" y="14173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时间戳（秒 + 纳秒）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8549640" y="1417320"/>
            <a:ext cx="2651760" cy="566928"/>
          </a:xfrm>
          <a:prstGeom prst="rect">
            <a:avLst/>
          </a:prstGeom>
          <a:solidFill>
            <a:srgbClr val="EAF1EE"/>
          </a:solidFill>
          <a:ln w="12700">
            <a:solidFill>
              <a:srgbClr val="14584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95360" y="141732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4584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名字区 408 B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685800" y="210312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小端二进制；字段定长，读取时逐项校验；名字放不下时用扩展块续写（每块 512 B），归档以两个全零块结尾。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651760"/>
          <a:ext cx="60350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377440"/>
                <a:gridCol w="2743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类型码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对象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数据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普通文件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size 字节，补齐到 512 的倍数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/ 2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硬链接 / 软链接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硬链接存目标路径；软链接原样保存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 / 4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字符设备 / 块设备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设备主次号写入头记录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 / 6 / 7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目录 / 命名管道 / 套接字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无数据，仅元信息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685800" y="4892040"/>
            <a:ext cx="6035040" cy="960120"/>
          </a:xfrm>
          <a:prstGeom prst="rect">
            <a:avLst/>
          </a:prstGeom>
          <a:solidFill>
            <a:srgbClr val="F6F7F7"/>
          </a:solidFill>
          <a:ln/>
        </p:spPr>
      </p:sp>
      <p:sp>
        <p:nvSpPr>
          <p:cNvPr id="19" name="Text 16"/>
          <p:cNvSpPr/>
          <p:nvPr/>
        </p:nvSpPr>
        <p:spPr>
          <a:xfrm>
            <a:off x="868680" y="507492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往返一致性由 golden 文件与 testdata 目录树断言：类型、权限、uid/gid、atime/mtime（含纳秒）逐项比对。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178040" y="265176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584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读取端的安全校验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7178040" y="3118104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415784" y="3017520"/>
            <a:ext cx="39684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拒绝绝对路径、空段、`.` 与 `..` 段、NUL 字节。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7178040" y="3867912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415784" y="3767328"/>
            <a:ext cx="39684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拒绝以已出现软链接为祖先的后续路径，堵住借软链接写出还原目录的攻击。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7178040" y="4617720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415784" y="4517136"/>
            <a:ext cx="39684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CRC-32、保留位、纳秒范围、扩展块个数与结尾零块逐项校验；出错后持续报同一错误。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178040" y="5440680"/>
            <a:ext cx="4206240" cy="0"/>
          </a:xfrm>
          <a:prstGeom prst="line">
            <a:avLst/>
          </a:prstGeom>
          <a:noFill/>
          <a:ln w="12700">
            <a:solidFill>
              <a:srgbClr val="E3E6E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178040" y="555955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D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4,881,324</a:t>
            </a:r>
            <a:endParaRPr lang="en-US" sz="2000" dirty="0"/>
          </a:p>
        </p:txBody>
      </p:sp>
      <p:sp>
        <p:nvSpPr>
          <p:cNvPr id="29" name="Text 26"/>
          <p:cNvSpPr/>
          <p:nvPr/>
        </p:nvSpPr>
        <p:spPr>
          <a:xfrm>
            <a:off x="9281160" y="559612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次 FuzzReader 执行（30 s），无 panic、无死循环。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10591495" y="643737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97228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D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Huffman：分块流式编码，内存不随文件增长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9677095" y="45720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自研压缩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85800" y="1060704"/>
            <a:ext cx="10820095" cy="0"/>
          </a:xfrm>
          <a:prstGeom prst="line">
            <a:avLst/>
          </a:prstGeom>
          <a:noFill/>
          <a:ln w="12700">
            <a:solidFill>
              <a:srgbClr val="E3E6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643737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DataBackup · 软件开发综合实验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85800" y="1417320"/>
            <a:ext cx="4572000" cy="548640"/>
          </a:xfrm>
          <a:prstGeom prst="rect">
            <a:avLst/>
          </a:prstGeom>
          <a:solidFill>
            <a:srgbClr val="14584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417320"/>
            <a:ext cx="4425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块头：码长表 + 原始长度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257800" y="1417320"/>
            <a:ext cx="3291840" cy="548640"/>
          </a:xfrm>
          <a:prstGeom prst="rect">
            <a:avLst/>
          </a:prstGeom>
          <a:solidFill>
            <a:srgbClr val="EAF1EE"/>
          </a:solidFill>
          <a:ln w="12700">
            <a:solidFill>
              <a:srgbClr val="1458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30952" y="1417320"/>
            <a:ext cx="3145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584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编码数据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85800" y="210312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 1 MiB 块独立建树，码长表写进块头，解码端按规范码重建码表——所以可以逐块流式读写，不需要把整个文件读进内存。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5800" y="26974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584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实测（512 MiB 文本，WSL2 + NVMe）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3063240"/>
          <a:ext cx="67665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97280"/>
                <a:gridCol w="1280160"/>
                <a:gridCol w="1188720"/>
                <a:gridCol w="9144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场景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耗时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吞吐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输出大小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压缩率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备份，无压缩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3.22 s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≈167 MB/s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536.9 MB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1.000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备份，Huffman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5.51 s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≈97 MB/s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330.8 MB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0.616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还原，Huffman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5.67 s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≈95 MB/s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备份，随机数据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7.76 s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≈69 MB/s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537.0 MB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1.000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7818120" y="26974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584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边界条件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7818120" y="3163824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055864" y="3063240"/>
            <a:ext cx="33284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空输入、单字节、全同字节、跨块大文件都有用例。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7818120" y="3913632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055864" y="3813048"/>
            <a:ext cx="33284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随机数据不膨胀：压缩率不会超过 1.0。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818120" y="4663440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055864" y="4562856"/>
            <a:ext cx="33284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码长表非法或码表不完整时解码直接报错，不输出半个文件。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7818120" y="5413248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055864" y="5312664"/>
            <a:ext cx="33284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单线程实现是吞吐上限的主要原因，见第 12 页。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85800" y="5074920"/>
            <a:ext cx="6766560" cy="822960"/>
          </a:xfrm>
          <a:prstGeom prst="rect">
            <a:avLst/>
          </a:prstGeom>
          <a:solidFill>
            <a:srgbClr val="F6F7F7"/>
          </a:solidFill>
          <a:ln/>
        </p:spPr>
      </p:sp>
      <p:sp>
        <p:nvSpPr>
          <p:cNvPr id="23" name="Text 20"/>
          <p:cNvSpPr/>
          <p:nvPr/>
        </p:nvSpPr>
        <p:spPr>
          <a:xfrm>
            <a:off x="868680" y="52120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10,000 个小文件：备份 0.16 s、还原 0.36 s；每文件摊薄开销约 16 µs（含 lstat、头记录与元数据）。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10591495" y="643737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97228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D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加密：口令派生双密钥，先加密后认证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9677095" y="45720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自研加密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85800" y="1060704"/>
            <a:ext cx="10820095" cy="0"/>
          </a:xfrm>
          <a:prstGeom prst="line">
            <a:avLst/>
          </a:prstGeom>
          <a:noFill/>
          <a:ln w="12700">
            <a:solidFill>
              <a:srgbClr val="E3E6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643737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DataBackup · 软件开发综合实验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85800" y="1463040"/>
            <a:ext cx="3840480" cy="713232"/>
          </a:xfrm>
          <a:prstGeom prst="rect">
            <a:avLst/>
          </a:prstGeom>
          <a:solidFill>
            <a:srgbClr val="14584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0664" y="1463040"/>
            <a:ext cx="37307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明文头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 B + 盐 16 + IV 16 + 源路径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526280" y="1463040"/>
            <a:ext cx="3291840" cy="713232"/>
          </a:xfrm>
          <a:prstGeom prst="rect">
            <a:avLst/>
          </a:prstGeom>
          <a:solidFill>
            <a:srgbClr val="EAF1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81144" y="1463040"/>
            <a:ext cx="3182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密文负载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AES-256-CBC + PKCS#7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818120" y="1463040"/>
            <a:ext cx="2011680" cy="713232"/>
          </a:xfrm>
          <a:prstGeom prst="rect">
            <a:avLst/>
          </a:prstGeom>
          <a:solidFill>
            <a:srgbClr val="F6F7F7"/>
          </a:solidFill>
          <a:ln w="12700">
            <a:solidFill>
              <a:srgbClr val="E3E6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72984" y="1463040"/>
            <a:ext cx="19019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明文尾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 B 统计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9829800" y="1463040"/>
            <a:ext cx="1645920" cy="713232"/>
          </a:xfrm>
          <a:prstGeom prst="rect">
            <a:avLst/>
          </a:prstGeom>
          <a:solidFill>
            <a:srgbClr val="F6F7F7"/>
          </a:solidFill>
          <a:ln w="12700">
            <a:solidFill>
              <a:srgbClr val="E3E6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84664" y="1463040"/>
            <a:ext cx="15361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校验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 B HMAC/SHA-256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85800" y="25146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584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密钥派生（RFC 8018 §5.2）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85800" y="28163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 = PBKDF2-HMAC-SHA256(口令, salt, 100 000 轮, 64 B)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85800" y="31272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K[0:32] → AES-256 密钥        K[32:64] → HMAC 密钥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85800" y="3712464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3544" y="3611880"/>
            <a:ext cx="6528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D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先加密后认证 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HMAC 覆盖头部、负载与尾部；改算法标识、迭代次数或统计值同样会被发现。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85800" y="4279392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3544" y="4178808"/>
            <a:ext cx="6528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D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常量时间比较 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校验值比较不做短路，避免时序侧信道。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85800" y="4846320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3544" y="4745736"/>
            <a:ext cx="6528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D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参数有上限 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迭代次数限制在 1 ~ 1 000 000，防止伪造文件让还原卡在密钥派生。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85800" y="5413248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3544" y="5312664"/>
            <a:ext cx="6528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D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错误可区分 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口令错误或内容被篡改统一返回 E_AUTH（退出码 3）；客户端重试 3 次后回到编辑态。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863840" y="2514600"/>
            <a:ext cx="3639312" cy="2926080"/>
          </a:xfrm>
          <a:prstGeom prst="rect">
            <a:avLst/>
          </a:prstGeom>
          <a:solidFill>
            <a:srgbClr val="F6F7F7"/>
          </a:solidFill>
          <a:ln/>
        </p:spPr>
      </p:sp>
      <p:sp>
        <p:nvSpPr>
          <p:cNvPr id="26" name="Text 24"/>
          <p:cNvSpPr/>
          <p:nvPr/>
        </p:nvSpPr>
        <p:spPr>
          <a:xfrm>
            <a:off x="8092440" y="26974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584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公开向量对照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092440" y="306324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FIPS-197（AES 分组）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FIPS 180-4（SHA-256）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RFC 2104（HMAC）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RFC 7914（PBKDF2）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NIST SP 800-38A（CBC）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092440" y="452628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同一组用例在 _test.go 中与标准库输出逐字节对照；生产代码不引用标准库实现。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10591495" y="643737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97228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D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客户端：三个页面，备份与还原都在一屏内完成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9677095" y="45720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图形界面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85800" y="1060704"/>
            <a:ext cx="10820095" cy="0"/>
          </a:xfrm>
          <a:prstGeom prst="line">
            <a:avLst/>
          </a:prstGeom>
          <a:noFill/>
          <a:ln w="12700">
            <a:solidFill>
              <a:srgbClr val="E3E6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643737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DataBackup · 软件开发综合实验</a:t>
            </a:r>
            <a:endParaRPr lang="en-US" sz="900" dirty="0"/>
          </a:p>
        </p:txBody>
      </p:sp>
      <p:pic>
        <p:nvPicPr>
          <p:cNvPr id="6" name="Image 0" descr="docs/images/client/01-backu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280160"/>
            <a:ext cx="5257800" cy="33832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4681728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备份：源目录、六个筛选维度、压缩与加密、口令与预览</a:t>
            </a:r>
            <a:endParaRPr lang="en-US" sz="900" dirty="0"/>
          </a:p>
        </p:txBody>
      </p:sp>
      <p:pic>
        <p:nvPicPr>
          <p:cNvPr id="8" name="Image 1" descr="docs/images/client/04-manag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26480" y="1280160"/>
            <a:ext cx="5257800" cy="33832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126480" y="4681728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备份管理：列表、完整性标记、详情 Sheet 与还原入口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685800" y="5129784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923544" y="5029200"/>
            <a:ext cx="105823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44 + React 19，三页面（备份 / 管理 / 设置）；侧栏折叠、减少动效等偏好可设置。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85800" y="5513832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923544" y="5413248"/>
            <a:ext cx="105823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备份任务状态机 9 个状态全部有单元测试覆盖；进度来自后端 JSON Lines，界面只做展示。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85800" y="5897880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23544" y="5797296"/>
            <a:ext cx="105823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端到端用 Playwright 驱动打包产物 + 真实后端二进制，覆盖"过滤 + 压缩 + 加密 → 还原一致"与 E_AUTH。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0591495" y="643737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97228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D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工程化：仓库、门禁与协作规则都写进仓库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9677095" y="45720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工程实践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85800" y="1060704"/>
            <a:ext cx="10820095" cy="0"/>
          </a:xfrm>
          <a:prstGeom prst="line">
            <a:avLst/>
          </a:prstGeom>
          <a:noFill/>
          <a:ln w="12700">
            <a:solidFill>
              <a:srgbClr val="E3E6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643737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DataBackup · 软件开发综合实验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85800" y="12801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584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仓库结构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85800" y="160020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1A1D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backend/</a:t>
            </a:r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Go CLI 与核心库，生产代码零第三方依赖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1A1D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client/</a:t>
            </a:r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Electron + React，只做界面与 CLI 调用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1A1D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docs/</a:t>
            </a:r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需求、设计、测试、规范与交付源文件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1A1D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scripts/ · docker/</a:t>
            </a:r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门禁、文档构建与开发镜像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852160" y="128016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584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质量门禁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1600200"/>
          <a:ext cx="5650992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3154680"/>
                <a:gridCol w="12344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检查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覆盖内容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执行时机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make check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格式、lint、禁用 import、构建与单测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每次提交前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make check-all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check + race + 后端 e2e + 客户端 e2e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合并前 / 核心改动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CI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 四 job 全绿；打 tag 自动构建与发布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 与 Release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852160" y="39776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584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协作与约束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852160" y="4398264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089904" y="4297680"/>
            <a:ext cx="5385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AGENTS.md 是硬约束的唯一来源：零第三方依赖、无学号与凭据、PDF 只在发布节点生成。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852160" y="4965192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89904" y="4864608"/>
            <a:ext cx="5385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任务在 docs/roadmap.md 里按波次与依赖排期；每个 PR 对照任务 ID 与验收标准。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852160" y="5532120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089904" y="5431536"/>
            <a:ext cx="5385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行为变更必须同 PR 改文档；提交信息与 Release Notes 有固定写法（docs/conventions/）。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85800" y="4480560"/>
            <a:ext cx="4937760" cy="1143000"/>
          </a:xfrm>
          <a:prstGeom prst="rect">
            <a:avLst/>
          </a:prstGeom>
          <a:solidFill>
            <a:srgbClr val="F6F7F7"/>
          </a:solidFill>
          <a:ln/>
        </p:spPr>
      </p:sp>
      <p:sp>
        <p:nvSpPr>
          <p:cNvPr id="18" name="Text 15"/>
          <p:cNvSpPr/>
          <p:nvPr/>
        </p:nvSpPr>
        <p:spPr>
          <a:xfrm>
            <a:off x="868680" y="46177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开发方式：编码 agent 按上述规则执行实现与测试，组长负责需求、设计决策、验收与答辩。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10591495" y="643737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97228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D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测试：四层用例，需求与用例编号双向可查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9677095" y="45720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软件测试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85800" y="1060704"/>
            <a:ext cx="10820095" cy="0"/>
          </a:xfrm>
          <a:prstGeom prst="line">
            <a:avLst/>
          </a:prstGeom>
          <a:noFill/>
          <a:ln w="12700">
            <a:solidFill>
              <a:srgbClr val="E3E6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643737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DataBackup · 软件开发综合实验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280160"/>
          <a:ext cx="1082009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846320"/>
                <a:gridCol w="3657600"/>
                <a:gridCol w="118872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层次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范围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手段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数量级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单元测试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各内部包：格式、压缩、加密、过滤、遍历、仓库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go test，表驱动 + golden 文件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300+ 用例编号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集成测试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engine 全流水线：七种文件类型、元数据、过滤组合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临时目录树 + 五要素比较器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32 组合矩阵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CLI 黑盒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子命令、参数校验、JSONL 事件、退出码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testscript（唯一测试依赖）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110 ~ 400 系列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端到端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客户端 + 真实后端二进制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Playwright（含截图回归）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TC-E2E-01 ~ 09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85800" y="4069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584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用例编号约定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685800" y="438912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测试代码里直接写编号（如 // TC-PACK-042），需求文档的 FR 编号与测试报告的 TC 编号互相对照，评审时可按编号检索实现与证据。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680960" y="406908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584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证据位置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680960" y="4389120"/>
            <a:ext cx="3840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测试报告 §3 覆盖率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§3.3 race 与 fuzz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§4 性能与剖析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§5 健壮性用例表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85800" y="5440680"/>
            <a:ext cx="10820095" cy="685800"/>
          </a:xfrm>
          <a:prstGeom prst="rect">
            <a:avLst/>
          </a:prstGeom>
          <a:solidFill>
            <a:srgbClr val="EAF1EE"/>
          </a:solidFill>
          <a:ln/>
        </p:spPr>
      </p:sp>
      <p:sp>
        <p:nvSpPr>
          <p:cNvPr id="12" name="Text 9"/>
          <p:cNvSpPr/>
          <p:nvPr/>
        </p:nvSpPr>
        <p:spPr>
          <a:xfrm>
            <a:off x="868680" y="5596128"/>
            <a:ext cx="104543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4584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健壮性单独成组：篡改任一字节、截断、错误口令、取消任务、路径穿越、损坏备份出现在列表中，都有对应用例。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10591495" y="643737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97228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D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测试结果：核心包覆盖率 87% ~ 100%，竞态与模糊测试干净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9677095" y="45720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软件测试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85800" y="1060704"/>
            <a:ext cx="10820095" cy="0"/>
          </a:xfrm>
          <a:prstGeom prst="line">
            <a:avLst/>
          </a:prstGeom>
          <a:noFill/>
          <a:ln w="12700">
            <a:solidFill>
              <a:srgbClr val="E3E6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643737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DataBackup · 软件开发综合实验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280160"/>
          <a:ext cx="67665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188720"/>
                <a:gridCol w="182880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包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覆盖率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包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覆盖率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crypto/sha256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100.0%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engine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87.2%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crypto/hmac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100.0%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walk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93.2%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jsonl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100.0%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repo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87.3%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crypto/aes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99.2%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huffman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94.4%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filter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99.0%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pack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95.3%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crypto/pbkdf2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97.1%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container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92.2%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85800" y="4160520"/>
            <a:ext cx="6766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语句覆盖率，2026-10-17 实测；cli 包逻辑经 testscript 子进程执行，不计入包内统计。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772400" y="12801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584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其它检查</a:t>
            </a:r>
            <a:endParaRPr lang="en-US" sz="105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600200"/>
          <a:ext cx="37307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71907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项目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结果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race 检测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全部通过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FuzzReader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488 万次，无 panic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FuzzDecode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4.06 万次，无 panic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staticcheck / vet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零告警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ESLint / prettier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零告警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85800" y="4572000"/>
            <a:ext cx="6766560" cy="1051560"/>
          </a:xfrm>
          <a:prstGeom prst="rect">
            <a:avLst/>
          </a:prstGeom>
          <a:solidFill>
            <a:srgbClr val="F6F7F7"/>
          </a:solidFill>
          <a:ln/>
        </p:spPr>
      </p:sp>
      <p:sp>
        <p:nvSpPr>
          <p:cNvPr id="11" name="Text 7"/>
          <p:cNvSpPr/>
          <p:nvPr/>
        </p:nvSpPr>
        <p:spPr>
          <a:xfrm>
            <a:off x="868680" y="4681728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584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过滤 × 压缩 × 加密 组合矩阵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868680" y="498348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六维过滤各取"开 / 关"与压缩、加密组合，共 32 组；每组断言备份退出码、容器头标志位与还原后目录树一致。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10591495" y="643737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97228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D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性能与边界：实测数据与已知限制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9677095" y="45720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软件测试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85800" y="1060704"/>
            <a:ext cx="10820095" cy="0"/>
          </a:xfrm>
          <a:prstGeom prst="line">
            <a:avLst/>
          </a:prstGeom>
          <a:noFill/>
          <a:ln w="12700">
            <a:solidFill>
              <a:srgbClr val="E3E6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643737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DataBackup · 软件开发综合实验</a:t>
            </a:r>
            <a:endParaRPr lang="en-US" sz="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280160"/>
          <a:ext cx="69494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97280"/>
                <a:gridCol w="1280160"/>
                <a:gridCol w="15544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场景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数据量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耗时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吞吐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备份（无压缩）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512 MiB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3.22 s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≈167 MB/s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备份（Huffman）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512 MiB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5.51 s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≈97 MB/s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还原（Huffman）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512 MiB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5.67 s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≈95 MB/s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加密容器写入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基准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27.8 ms/op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≈37.8 MB/s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10,000 个小文件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260 KB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0.16 s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85800" y="35661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WSL2 Ubuntu 24.04 + NVMe，真实二进制；微基准为 go test -bench，benchtime=2s。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138160" y="128016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584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pprof 热点（加密容器写入）</a:t>
            </a:r>
            <a:endParaRPr lang="en-US" sz="105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1600200"/>
          <a:ext cx="336499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98755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函数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占比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aes.addRoundKey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18.6%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aes.shiftRows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18.3%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aes.mixColumns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15.6%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sha256.block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15.6%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aes.subBytes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12.2%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8138160" y="3611880"/>
            <a:ext cx="3364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采样 3 s；WSL2 不提供 perf_event，用 Go pprof 替代。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685800" y="4160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584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已知限制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85800" y="4581144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923544" y="4480560"/>
            <a:ext cx="105521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超过 10 万个条目的目录树没有做过端到端实测；测试报告 §6.3 对此有说明。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85800" y="5084064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23544" y="4983480"/>
            <a:ext cx="105521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Huffman 为单线程实现，压缩吞吐低于不压缩路径；加密写入约 38 MB/s，是当前最慢环节。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85800" y="5586984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923544" y="5486400"/>
            <a:ext cx="105521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仓库是普通目录：没有增量备份、去重与并发写保护，同一仓库并发备份只能靠 E_EXISTS 兜底。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685800" y="6089904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923544" y="5989320"/>
            <a:ext cx="105521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便携包会静默跳过 uid/gid、权限位、设备节点与硬链接身份，仅作演示用途。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10591495" y="643737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97228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D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交付物：一次构建产出命令行、两种安装包与全部文档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9677095" y="45720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交付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85800" y="1060704"/>
            <a:ext cx="10820095" cy="0"/>
          </a:xfrm>
          <a:prstGeom prst="line">
            <a:avLst/>
          </a:prstGeom>
          <a:noFill/>
          <a:ln w="12700">
            <a:solidFill>
              <a:srgbClr val="E3E6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643737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DataBackup · 软件开发综合实验</a:t>
            </a:r>
            <a:endParaRPr lang="en-US" sz="9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280160"/>
          <a:ext cx="10820095" cy="914400"/>
        </p:xfrm>
        <a:graphic>
          <a:graphicData uri="http://schemas.openxmlformats.org/drawingml/2006/table">
            <a:tbl>
              <a:tblPr/>
              <a:tblGrid>
                <a:gridCol w="4480560"/>
                <a:gridCol w="1371600"/>
                <a:gridCol w="48463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产物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大小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DataBackup-1.0.1.AppImage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139.8 MB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单文件免安装，内置后端二进制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databackup-client_1.0.1_amd64.deb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107.6 MB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dpkg 安装，菜单入口 /opt/DataBackup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databackup-1.0.1-linux-x86_64.tar.gz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1.6 MB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独立 CLI，可脚本化调用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databackup-1.0.1-source.tar.gz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9.4 MB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源码包，含构建脚本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DataBackup-1.0.1-portable.exe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116 MB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Windows 便携包（可选加分项）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文档 PDF × 6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6.1 MB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需求、设计、测试、实验报告、PPT、进度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85800" y="3931920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v1.0.1 Release 资产，同时提供 sha256sums.txt；Windows 便携包为宿主机构建后追加。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85800" y="42519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584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运行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685800" y="4553712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sudo dpkg -i databackup-client_1.0.1_amd64.deb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databackup backup --source ~/docs --repo ~/backups \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--compress huffman --encrypt aes256 --password-stdin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818120" y="4251960"/>
            <a:ext cx="3685032" cy="914400"/>
          </a:xfrm>
          <a:prstGeom prst="rect">
            <a:avLst/>
          </a:prstGeom>
          <a:solidFill>
            <a:srgbClr val="F6F7F7"/>
          </a:solidFill>
          <a:ln/>
        </p:spPr>
      </p:sp>
      <p:sp>
        <p:nvSpPr>
          <p:cNvPr id="11" name="Text 8"/>
          <p:cNvSpPr/>
          <p:nvPr/>
        </p:nvSpPr>
        <p:spPr>
          <a:xfrm>
            <a:off x="8001000" y="4389120"/>
            <a:ext cx="3337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目标平台 Ubuntu 22.04 / 24.04。WSL2 + WSLg 的安装、依赖与已知问题见 docs/client/wsl-guide.md。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85800" y="56235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演示视频 ≤3 分钟，按 docs/deliverables/06-演示视频脚本.md 录制。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10591495" y="643737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97228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D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小结：课程要求的功能全部落地，边界清楚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9677095" y="45720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总结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85800" y="1060704"/>
            <a:ext cx="10820095" cy="0"/>
          </a:xfrm>
          <a:prstGeom prst="line">
            <a:avLst/>
          </a:prstGeom>
          <a:noFill/>
          <a:ln w="12700">
            <a:solidFill>
              <a:srgbClr val="E3E6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643737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DataBackup · 软件开发综合实验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85800" y="13258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584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已完成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85800" y="1746504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23544" y="1645920"/>
            <a:ext cx="51572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基础备份/还原 + 全部扩展项：七类文件对象、完整元数据、六维过滤、自研格式/压缩/加密、Electron 客户端。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2459736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3544" y="2359152"/>
            <a:ext cx="51572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自研实现有公开向量与 golden 文件对照；客户端走真实后端端到端验证。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85800" y="3172968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3544" y="3072384"/>
            <a:ext cx="51572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从需求编号到测试编号、从 Makefile 到 CI 与 Release，工程链路完整可复现。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55080" y="13258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584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未做与后续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355080" y="1746504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92824" y="1645920"/>
            <a:ext cx="48371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增量备份、去重、并发写保护：都属于仓库层设计，需要先定新的格式版本。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355080" y="2459736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92824" y="2359152"/>
            <a:ext cx="48371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更大规模目录树的实测（10 万条目以上）与多线程压缩。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355080" y="3172968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92824" y="3072384"/>
            <a:ext cx="48371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版的元数据能力受平台限制，短期只作为演示兜底。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5800" y="3520440"/>
            <a:ext cx="10820095" cy="0"/>
          </a:xfrm>
          <a:prstGeom prst="line">
            <a:avLst/>
          </a:prstGeom>
          <a:noFill/>
          <a:ln w="12700">
            <a:solidFill>
              <a:srgbClr val="E3E6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365760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代码规模：后端 Go 生产 6,755 行、测试 7,157 行；客户端 TypeScript/TSX 4,749 行、测试 2,325 行；文档 Markdown 3,600 余行（不含图）。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85800" y="4343400"/>
            <a:ext cx="10820095" cy="0"/>
          </a:xfrm>
          <a:prstGeom prst="line">
            <a:avLst/>
          </a:prstGeom>
          <a:noFill/>
          <a:ln w="12700">
            <a:solidFill>
              <a:srgbClr val="E3E6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45262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D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685800" y="52120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演示见视频或现场：过滤 + 压缩 + 加密备份 → 口令还原 → 目录树比对。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0591495" y="643737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 / 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DataBackup 答辩</dc:title>
  <dc:subject>Linux 目录树备份与还原软件</dc:subject>
  <dc:creator>王科瑾</dc:creator>
  <cp:lastModifiedBy>王科瑾</cp:lastModifiedBy>
  <cp:revision>1</cp:revision>
  <dcterms:created xsi:type="dcterms:W3CDTF">2026-10-18T04:29:06Z</dcterms:created>
  <dcterms:modified xsi:type="dcterms:W3CDTF">2026-10-18T04:29:06Z</dcterms:modified>
</cp:coreProperties>
</file>